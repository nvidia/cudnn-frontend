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>
                <a:solidFill>
                  <a:srgbClr val="262626"/>
                </a:solidFill>
                <a:latin typeface="Microsoft YaHei"/>
              </a:rPr>
              <a:t>_mma_16x8_bs 的 16 个输入从哪来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Microsoft YaHei"/>
              </a:rPr>
              <a:t>一次调用 = 一条 warp 级 block-scaled mma.sync；下标约定：lane L，g = L&gt;&gt;2 (0..7)，t = L&amp;3 (0..3)；例子取 nvfp4、config 128x128 warps4x2（warp tile 32x64，_M_FRAGS=2，_N_FRAGS=8，K-tile 256 fp4 = 4 个 k_blk）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2651760" cy="685800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69848"/>
            <a:ext cx="25603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</a:rPr>
              <a:t>SMEM: A tile</a:t>
            </a:r>
          </a:p>
          <a:p>
            <a:pPr algn="l"/>
            <a:r>
              <a:rPr sz="900" b="0">
                <a:solidFill>
                  <a:srgbClr val="262626"/>
                </a:solidFill>
                <a:latin typeface="Microsoft YaHei"/>
              </a:rPr>
              <a:t>cta_m 行 x 128 B（packed）</a:t>
            </a:r>
          </a:p>
          <a:p>
            <a:pPr algn="l"/>
            <a:r>
              <a:rPr sz="900" b="0">
                <a:solidFill>
                  <a:srgbClr val="262626"/>
                </a:solidFill>
                <a:latin typeface="Microsoft YaHei"/>
              </a:rPr>
              <a:t>行内 128B swizzle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051560"/>
            <a:ext cx="2651760" cy="685800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1069848"/>
            <a:ext cx="25603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</a:rPr>
              <a:t>SMEM: B tile</a:t>
            </a:r>
          </a:p>
          <a:p>
            <a:pPr algn="l"/>
            <a:r>
              <a:rPr sz="900" b="0">
                <a:solidFill>
                  <a:srgbClr val="262626"/>
                </a:solidFill>
                <a:latin typeface="Microsoft YaHei"/>
              </a:rPr>
              <a:t>cta_n 行 x 128 B（packed）</a:t>
            </a:r>
          </a:p>
          <a:p>
            <a:pPr algn="l"/>
            <a:r>
              <a:rPr sz="900" b="0">
                <a:solidFill>
                  <a:srgbClr val="262626"/>
                </a:solidFill>
                <a:latin typeface="Microsoft YaHei"/>
              </a:rPr>
              <a:t>行内 128B swizzle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51560"/>
            <a:ext cx="2651760" cy="685800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069848"/>
            <a:ext cx="25603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</a:rPr>
              <a:t>SMEM: SFA box (Int32 words)</a:t>
            </a:r>
          </a:p>
          <a:p>
            <a:pPr algn="l"/>
            <a:r>
              <a:rPr sz="900" b="0">
                <a:solidFill>
                  <a:srgbClr val="262626"/>
                </a:solidFill>
                <a:latin typeface="Microsoft YaHei"/>
              </a:rPr>
              <a:t>[m_block][k_word][128 words]</a:t>
            </a:r>
          </a:p>
          <a:p>
            <a:pPr algn="l"/>
            <a:r>
              <a:rPr sz="900" b="0">
                <a:solidFill>
                  <a:srgbClr val="262626"/>
                </a:solidFill>
                <a:latin typeface="Microsoft YaHei"/>
              </a:rPr>
              <a:t>一个 word = 一行的 4 个连续 K-scale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1051560"/>
            <a:ext cx="2926080" cy="685800"/>
          </a:xfrm>
          <a:prstGeom prst="rect">
            <a:avLst/>
          </a:prstGeom>
          <a:solidFill>
            <a:srgbClr val="E2C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069848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</a:rPr>
              <a:t>SMEM: SFB box (Int32 words)</a:t>
            </a:r>
          </a:p>
          <a:p>
            <a:pPr algn="l"/>
            <a:r>
              <a:rPr sz="900" b="0">
                <a:solidFill>
                  <a:srgbClr val="262626"/>
                </a:solidFill>
                <a:latin typeface="Microsoft YaHei"/>
              </a:rPr>
              <a:t>[n_block][k_word][128 words]</a:t>
            </a:r>
          </a:p>
          <a:p>
            <a:pPr algn="l"/>
            <a:r>
              <a:rPr sz="900" b="0">
                <a:solidFill>
                  <a:srgbClr val="262626"/>
                </a:solidFill>
                <a:latin typeface="Microsoft YaHei"/>
              </a:rPr>
              <a:t>同上，按 B 的列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38528"/>
            <a:ext cx="11430000" cy="475488"/>
          </a:xfrm>
          <a:prstGeom prst="rect">
            <a:avLst/>
          </a:prstGeom>
          <a:solidFill>
            <a:srgbClr val="EEEE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112471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Consolas"/>
              </a:rPr>
              <a:t>循环变量（全部编译期常量，range_constexpr）：k_blk ∈ [0, _NUM_K_BLOCKS)   kb_base = k_blk*32 字节      mf ∈ [0, _M_FRAGS)      nf ∈ [0, _N_FRAGS)      warp_row = warp_idx % WARPS_M，warp_col = warp_idx // WARPS_M（运行期、warp 内一致）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560320"/>
            <a:ext cx="2743200" cy="23317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/>
            <a:r>
              <a:rPr sz="1000" b="1">
                <a:solidFill>
                  <a:srgbClr val="262626"/>
                </a:solidFill>
                <a:latin typeface="Consolas"/>
              </a:rPr>
              <a:t>a0..a3 ← ldmatrix.x4 (ROW)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每个 k_blk、每个 mf 一次，4 个 b32 结果就是 a0..a3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地址（每 lane 一个 16B 行）：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a_ldm_row   = (L%8) + 8*((L//8)%2)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a_ldm_col16 = L//16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a_row = warp_row*_WARP_TILE_M + mf*16 + a_ldm_row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a_off = a_row*128 + kb_base + a_ldm_col16*16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ptr   = swizzle(sA_ptr + a_off)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结果：a0 = 行 g,   K 字节 4t..4t+3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      a1 = 行 g+8, 同段 K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      a2 = 行 g,   K 字节 16+4t..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      a3 = 行 g+8, K 字节 16+4t..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560320"/>
            <a:ext cx="2743200" cy="2331720"/>
          </a:xfrm>
          <a:prstGeom prst="roundRect">
            <a:avLst>
              <a:gd name="adj" fmla="val 8000"/>
            </a:avLst>
          </a:prstGeom>
          <a:solidFill>
            <a:srgbClr val="C6E0B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/>
            <a:r>
              <a:rPr sz="1000" b="1">
                <a:solidFill>
                  <a:srgbClr val="262626"/>
                </a:solidFill>
                <a:latin typeface="Consolas"/>
              </a:rPr>
              <a:t>b0, b1 ← ldmatrix.x4 (ROW)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每个 k_blk、每对 n-frag (2p, 2p+1) 一次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b_ldm_pair_row   = (L%8) + 8*(L//16)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b_ldm_pair_col16 = (L//8)%2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b_row = warp_col*_WARP_TILE_N + p*16 + b_ldm_pair_row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b_off = b_row*128 + kb_base + b_ldm_pair_col16*16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bv = ldmatrix(swizzle(sB_ptr + b_off))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b_frags[2p]   = (bv[0], bv[1])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b_frags[2p+1] = (bv[2], bv[3])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结果：b0 = 列 g, K 字节 4t..4t+3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      b1 = 列 g, K 字节 16+4t..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2743200" cy="233172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/>
            <a:r>
              <a:rPr sz="1000" b="1">
                <a:solidFill>
                  <a:srgbClr val="262626"/>
                </a:solidFill>
                <a:latin typeface="Consolas"/>
              </a:rPr>
              <a:t>c0..c3 ← acc[]（寄存器）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累加器数组 acc 有 _M_FRAGS*_N_FRAGS*4 个 fp32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_o = (mf*_N_FRAGS + nf) * 4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c0..c3 = acc[_o .. _o+3]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返回的 d0..d3 写回同一段：acc[_o:4] = ...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每个 lane 的 4 个值：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      c0 = D[g,   2t]   c1 = D[g,   2t+1]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      c2 = D[g+8, 2t]   c3 = D[g+8, 2t+1]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tile 开头清零，K 循环里一直累加，最后由 epilogue 读走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2560320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FE699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/>
            <a:r>
              <a:rPr sz="1000" b="1">
                <a:solidFill>
                  <a:srgbClr val="262626"/>
                </a:solidFill>
                <a:latin typeface="Consolas"/>
              </a:rPr>
              <a:t>sfa / sfb 与 4 个立即数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每个 K-tile 开头，每 lane 从 SF box load 若干 word：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sfa_words[ga][w]  ga ∈ [0,_SFA_GROUPS)  w ∈ [0,_SF_WORDS)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sfb_words[gb][w]  gb ∈ [0,_SFB_GROUPS)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调用时选：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  w          = (k_blk*spi) // 4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  byte_id_a  = byte_id_b = (k_blk*spi) % 4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  sfa        = sfa_words[mf//2][w]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  thread_id_a= mf % 2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  sfb        = sfb_words[nf//4][w]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  thread_id_b= nf % 4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spi = 一条指令沿 K 消费的 scale 数：4X→4，2X→2，1X→1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91640" y="1737360"/>
            <a:ext cx="0" cy="8229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26280" y="1737360"/>
            <a:ext cx="0" cy="8229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60920" y="1737360"/>
            <a:ext cx="2331720" cy="822960"/>
          </a:xfrm>
          <a:prstGeom prst="line">
            <a:avLst/>
          </a:prstGeom>
          <a:ln w="15875">
            <a:solidFill>
              <a:srgbClr val="59595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32720" y="1737360"/>
            <a:ext cx="365760" cy="822960"/>
          </a:xfrm>
          <a:prstGeom prst="line">
            <a:avLst/>
          </a:prstGeom>
          <a:ln w="15875">
            <a:solidFill>
              <a:srgbClr val="59595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65760" y="5029200"/>
            <a:ext cx="11430000" cy="1600200"/>
          </a:xfrm>
          <a:prstGeom prst="rect">
            <a:avLst/>
          </a:prstGeom>
          <a:solidFill>
            <a:srgbClr val="FFF2CC"/>
          </a:solidFill>
          <a:ln w="9525">
            <a:solidFill>
              <a:srgbClr val="BF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/>
            <a:r>
              <a:rPr sz="900">
                <a:solidFill>
                  <a:srgbClr val="262626"/>
                </a:solidFill>
                <a:latin typeface="Microsoft YaHei"/>
              </a:rPr>
              <a:t>例子：k_blk = 2，mf = 1，nf = 5（nvfp4，spi = 4，_N_FRAGS = 8，_SFB_GROUPS = 2）。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  a0..a3：ldmatrix 读 SMEM 第 warp_row*32 + 16 .. +31 行、第 64..95 字节；lane 13 (g=3, t=1) 拿到 a0 = 行 19 的字节 68..71，a1 = 行 27，a2 = 行 19 的 84..87，a3 = 行 27。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  b0,b1：nf = 5 是 pair p = 2 的第二个 frag，取 bv[2], bv[3]；lane 13 拿到 B 第 warp_col*64 + 40 + 3 列的字节 68..71 和 84..87。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  c0..c3 = acc[52..55]（_o = (1*8+5)*4）。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  w = 8//4 = 2，byte_id = 0；sfa = sfa_words[0][2]，thread_id_a = 1；sfb = sfb_words[1][2]，thread_id_b = 1。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  于是这条指令：D[16x8] += (A 行 16..31 × scale) · (B 列 40..47 × scale)，K 覆盖 fp4 元素 128..191，scale 是每行/列第 8..11 个 K-scale 中的 4 个（4X 读整 word）。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>
                <a:solidFill>
                  <a:srgbClr val="262626"/>
                </a:solidFill>
                <a:latin typeface="Microsoft YaHei"/>
              </a:rPr>
              <a:t>A、B fragment：每个 lane 持有哪一格，ldmatrix 怎么把它送到 a0..a3 / b0,b1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Microsoft YaHei"/>
              </a:rPr>
              <a:t>格 = 4 字节（fp4 8 个元素 / fp8 4 个元素）。红框 = lane 13（g=3, t=1）的格子。ldmatrix 一条指令 32 个 lane 各给一个 16B 行地址，硬件按 8x8 b16 tile 分发。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262626"/>
                </a:solidFill>
                <a:latin typeface="Microsoft YaHei"/>
              </a:rPr>
              <a:t>A frag (mf)：16 行 x 32 字节的 K-major 区域，行 = m，列 = K 字节 /4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7008" y="1234440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7" name="Rectangle 6"/>
          <p:cNvSpPr/>
          <p:nvPr/>
        </p:nvSpPr>
        <p:spPr>
          <a:xfrm>
            <a:off x="1591056" y="1234440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8" name="Rectangle 7"/>
          <p:cNvSpPr/>
          <p:nvPr/>
        </p:nvSpPr>
        <p:spPr>
          <a:xfrm>
            <a:off x="1975104" y="1234440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9152" y="1234440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234440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234440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1296" y="1234440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453896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7008" y="1453896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91056" y="1453896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75104" y="1453896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59152" y="1453896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1453896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7248" y="1453896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1296" y="1453896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1673352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7008" y="1673352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91056" y="1673352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75104" y="1673352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59152" y="1673352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673352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1673352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11296" y="1673352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1892808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7008" y="1892808"/>
            <a:ext cx="384048" cy="219456"/>
          </a:xfrm>
          <a:prstGeom prst="rect">
            <a:avLst/>
          </a:prstGeom>
          <a:solidFill>
            <a:srgbClr val="BDD7EE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91056" y="1892808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75104" y="1892808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59152" y="1892808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1892808"/>
            <a:ext cx="384048" cy="219456"/>
          </a:xfrm>
          <a:prstGeom prst="rect">
            <a:avLst/>
          </a:prstGeom>
          <a:solidFill>
            <a:srgbClr val="DEEBF7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27248" y="1892808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1296" y="1892808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2112264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7008" y="2112264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91056" y="2112264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75104" y="2112264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9152" y="2112264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2112264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27248" y="2112264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11296" y="2112264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2331720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07008" y="2331720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91056" y="2331720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75104" y="2331720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59152" y="2331720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2331720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27248" y="2331720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11296" y="2331720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2551176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07008" y="2551176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91056" y="2551176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75104" y="2551176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59152" y="2551176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2551176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27248" y="2551176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11296" y="2551176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" y="2770632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07008" y="2770632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91056" y="2770632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75104" y="2770632"/>
            <a:ext cx="384048" cy="219456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59152" y="2770632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0" y="2770632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27248" y="2770632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11296" y="2770632"/>
            <a:ext cx="384048" cy="219456"/>
          </a:xfrm>
          <a:prstGeom prst="rect">
            <a:avLst/>
          </a:prstGeom>
          <a:solidFill>
            <a:srgbClr val="DEE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" y="2990088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07008" y="2990088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591056" y="2990088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75104" y="2990088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59152" y="2990088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0" y="2990088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27248" y="2990088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1296" y="2990088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" y="3209544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07008" y="3209544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591056" y="3209544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75104" y="3209544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359152" y="3209544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3209544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27248" y="3209544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11296" y="3209544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" y="3429000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07008" y="3429000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91056" y="3429000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75104" y="3429000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359152" y="3429000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0" y="3429000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127248" y="3429000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511296" y="3429000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22960" y="3648456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207008" y="3648456"/>
            <a:ext cx="384048" cy="219456"/>
          </a:xfrm>
          <a:prstGeom prst="rect">
            <a:avLst/>
          </a:prstGeom>
          <a:solidFill>
            <a:srgbClr val="9DC3E6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591056" y="3648456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75104" y="3648456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359152" y="3648456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0" y="3648456"/>
            <a:ext cx="384048" cy="219456"/>
          </a:xfrm>
          <a:prstGeom prst="rect">
            <a:avLst/>
          </a:prstGeom>
          <a:solidFill>
            <a:srgbClr val="7FAFDA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127248" y="3648456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511296" y="3648456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2960" y="3867912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207008" y="3867912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591056" y="3867912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75104" y="3867912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359152" y="3867912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0" y="3867912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127248" y="3867912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511296" y="3867912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22960" y="4087368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207008" y="4087368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591056" y="4087368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975104" y="4087368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359152" y="4087368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0" y="4087368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127248" y="4087368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511296" y="4087368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22960" y="4306824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207008" y="4306824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591056" y="4306824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975104" y="4306824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359152" y="4306824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43200" y="4306824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127248" y="4306824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511296" y="4306824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22960" y="4526279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207008" y="4526279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591056" y="4526279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975104" y="4526279"/>
            <a:ext cx="384048" cy="219456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359152" y="4526279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743200" y="4526279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127248" y="4526279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511296" y="4526279"/>
            <a:ext cx="384048" cy="219456"/>
          </a:xfrm>
          <a:prstGeom prst="rect">
            <a:avLst/>
          </a:prstGeom>
          <a:solidFill>
            <a:srgbClr val="7FA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11480" y="1216152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1480" y="1435608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11480" y="1655064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11480" y="1874520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11480" y="209397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11480" y="2313432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11480" y="2532888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2752344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11480" y="2971800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11480" y="319125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11480" y="3410712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11480" y="3630168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m11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11480" y="3849624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11480" y="4069080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m13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11480" y="428853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11480" y="4507992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m15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22960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207008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591056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975104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12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359152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16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743200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20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127248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24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511296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28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22960" y="4974336"/>
            <a:ext cx="3108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K 字节偏移（kb_base + ...）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22960" y="5202936"/>
            <a:ext cx="329184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lane L 持有：行 g / g+8，字节 4t..4t+3 / 16+4t..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/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ldmatrix.x4 的 4 个 8x8 tile：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tile0 = 行 0-7  x 字节 0-15   → a0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tile1 = 行 8-15 x 字节 0-15   → a1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tile2 = 行 0-7  x 字节 16-31  → a2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tile3 = 行 8-15 x 字节 16-31  → a3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lane L 给出 tile (L//8) 的第 L%8 行地址：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a_ldm_row = (L%8) + 8*((L//8)%2)，a_ldm_col16 = L//16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480560" y="96012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262626"/>
                </a:solidFill>
                <a:latin typeface="Microsoft YaHei"/>
              </a:rPr>
              <a:t>B frag pair (2p, 2p+1)：16 个 n 列 x 32 字节，行 = n，列 = K 字节 /4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937760" y="1234440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321808" y="1234440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705856" y="1234440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089904" y="1234440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73952" y="1234440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858000" y="1234440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42048" y="1234440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626096" y="1234440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937760" y="1453896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321808" y="1453896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705856" y="1453896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089904" y="1453896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473952" y="1453896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858000" y="1453896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242048" y="1453896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626096" y="1453896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937760" y="1673352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321808" y="1673352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5705856" y="1673352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089904" y="1673352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473952" y="1673352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858000" y="1673352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242048" y="1673352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626096" y="1673352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937760" y="1892808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321808" y="1892808"/>
            <a:ext cx="384048" cy="219456"/>
          </a:xfrm>
          <a:prstGeom prst="rect">
            <a:avLst/>
          </a:prstGeom>
          <a:solidFill>
            <a:srgbClr val="C6E0B4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705856" y="1892808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089904" y="1892808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473952" y="1892808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858000" y="1892808"/>
            <a:ext cx="384048" cy="219456"/>
          </a:xfrm>
          <a:prstGeom prst="rect">
            <a:avLst/>
          </a:prstGeom>
          <a:solidFill>
            <a:srgbClr val="A9D18E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242048" y="1892808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7626096" y="1892808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937760" y="2112264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321808" y="2112264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5705856" y="2112264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089904" y="2112264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473952" y="2112264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858000" y="2112264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242048" y="2112264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626096" y="2112264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4937760" y="2331720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5321808" y="2331720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5705856" y="2331720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089904" y="2331720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473952" y="2331720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858000" y="2331720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242048" y="2331720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626096" y="2331720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937760" y="2551176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321808" y="2551176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705856" y="2551176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089904" y="2551176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6473952" y="2551176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858000" y="2551176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242048" y="2551176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626096" y="2551176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937760" y="2770632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5321808" y="2770632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5705856" y="2770632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6089904" y="2770632"/>
            <a:ext cx="384048" cy="219456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bv[0]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473952" y="2770632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6858000" y="2770632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242048" y="2770632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7626096" y="2770632"/>
            <a:ext cx="384048" cy="219456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bv[2]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4937760" y="2990088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321808" y="2990088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5705856" y="2990088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089904" y="2990088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6473952" y="2990088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858000" y="2990088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7242048" y="2990088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7626096" y="2990088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4937760" y="3209544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5321808" y="3209544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705856" y="3209544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6089904" y="3209544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473952" y="3209544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6858000" y="3209544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7242048" y="3209544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7626096" y="3209544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937760" y="3429000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5321808" y="3429000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5705856" y="3429000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6089904" y="3429000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6473952" y="3429000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6858000" y="3429000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7242048" y="3429000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7626096" y="3429000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4937760" y="3648456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5321808" y="3648456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5705856" y="3648456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6089904" y="3648456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6473952" y="3648456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858000" y="3648456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7242048" y="3648456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626096" y="3648456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4937760" y="3867912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5321808" y="3867912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5705856" y="3867912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6089904" y="3867912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473952" y="3867912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6858000" y="3867912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242048" y="3867912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7626096" y="3867912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4937760" y="4087368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321808" y="4087368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5705856" y="4087368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6089904" y="4087368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6473952" y="4087368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6858000" y="4087368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7242048" y="4087368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7626096" y="4087368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4937760" y="4306824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321808" y="4306824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5705856" y="4306824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6089904" y="4306824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473952" y="4306824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6858000" y="4306824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7242048" y="4306824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7626096" y="4306824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937760" y="4526279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321808" y="4526279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705856" y="4526279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089904" y="4526279"/>
            <a:ext cx="384048" cy="219456"/>
          </a:xfrm>
          <a:prstGeom prst="rect">
            <a:avLst/>
          </a:prstGeom>
          <a:solidFill>
            <a:srgbClr val="E2F0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bv[1]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6473952" y="4526279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6858000" y="4526279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7242048" y="4526279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7626096" y="4526279"/>
            <a:ext cx="384048" cy="219456"/>
          </a:xfrm>
          <a:prstGeom prst="rect">
            <a:avLst/>
          </a:prstGeom>
          <a:solidFill>
            <a:srgbClr val="D5E8C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bv[3]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526280" y="1216152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n0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526280" y="1435608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n1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4526280" y="1655064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n2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526280" y="1874520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n3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526280" y="209397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n4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526280" y="2313432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n5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4526280" y="2532888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n6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526280" y="2752344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n7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4526280" y="2971800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n8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4526280" y="319125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n9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4526280" y="3410712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n10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4526280" y="3630168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n11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4526280" y="3849624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n12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4526280" y="4069080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n13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4526280" y="428853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n14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4526280" y="4507992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n15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4937760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0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5321808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4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5705856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8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6089904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12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6473952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16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6858000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20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7242048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24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7626096" y="476402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28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4937760" y="5202936"/>
            <a:ext cx="329184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n 0-7 是 n-frag 2p，n 8-15 是 2p+1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bv[0], bv[1] → b0, b1 of nf = 2p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bv[2], bv[3] → b0, b1 of nf = 2p+1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lane L 持有：列 g，字节 4t..4t+3 (b0) / 16+4t.. (b1)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b_ldm_pair_row = (L%8) + 8*(L//16)，b_ldm_pair_col16 = (L//8)%2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/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_N_FRAGS 为奇数时最后一个 frag 用 ldmatrix.x2 单独取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778240" y="1005840"/>
            <a:ext cx="3063240" cy="5120640"/>
          </a:xfrm>
          <a:prstGeom prst="rect">
            <a:avLst/>
          </a:prstGeom>
          <a:solidFill>
            <a:srgbClr val="FFF2CC"/>
          </a:solidFill>
          <a:ln w="9525">
            <a:solidFill>
              <a:srgbClr val="BF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/>
            <a:r>
              <a:rPr sz="800">
                <a:solidFill>
                  <a:srgbClr val="262626"/>
                </a:solidFill>
                <a:latin typeface="Microsoft YaHei"/>
              </a:rPr>
              <a:t>为什么排布正好对上 mma.sync：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mma.sync m16n8k32/k64 规定 lane L 的 a0 是 A[g][4t..4t+3]（字节），a1 行 +8，a2/a3 K +16 字节；b0 是 B[n=g][4t..]，b1 K +16。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ldmatrix 每个 8x8 b16 tile 的分发规则也是 lane L 得到第 g 行、第 t 个 4 字节，所以 4 个 tile 按（行 0-7/8-15）x（字节 0-15/16-31）排列时，结果寄存器顺序天然就是 a0..a3。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fp4 pair 是 1 字节宽的 Float4E2M1FNx2，fp8 是 1 字节，所以 32 字节 K 对两者是同一套地址算术，差别只在 shape 的 k=64 还是 32。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swizzle：地址在送进 ldmatrix 前经过 _apply_smem_swizzle(·, Swizzle(3,4,3))，和 TMA 写入 SMEM 用的 s128b 是同一个 XOR，所以这里的 a_off/b_off 都按“未 swizzle”的逻辑偏移写。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MN-major 的 fp8 操作数走 ldmatrix.m16n16.trans.b8，结果寄存器顺序一样，只是地址是 k = kb_base + L；fp4 没有转置形式，所以只能 K-major。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>
                <a:solidFill>
                  <a:srgbClr val="262626"/>
                </a:solidFill>
                <a:latin typeface="Microsoft YaHei"/>
              </a:rPr>
              <a:t>C / D fragment 与 acc[] 的下标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Microsoft YaHei"/>
              </a:rPr>
              <a:t>16 行 x 8 列的输出 tile；每个 lane 4 个 fp32。红框 = lane 13（g=3, t=1）。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3444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123444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23444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23444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23444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23444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23444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23444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50876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0876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150876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50876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50876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150876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50876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150876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178308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78308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178308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178308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178308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178308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78308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178308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205740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00200" y="205740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2057400"/>
            <a:ext cx="502920" cy="274320"/>
          </a:xfrm>
          <a:prstGeom prst="rect">
            <a:avLst/>
          </a:prstGeom>
          <a:solidFill>
            <a:srgbClr val="F8CBAD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2057400"/>
            <a:ext cx="502920" cy="274320"/>
          </a:xfrm>
          <a:prstGeom prst="rect">
            <a:avLst/>
          </a:prstGeom>
          <a:solidFill>
            <a:srgbClr val="F4B183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205740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1880" y="205740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205740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205740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233172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00200" y="233172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233172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233172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233172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11880" y="233172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233172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233172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260604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00200" y="260604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03120" y="260604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40" y="260604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260604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11880" y="260604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260604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17720" y="260604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7280" y="288036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00200" y="288036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3120" y="288036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06040" y="288036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0" y="288036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11880" y="288036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288036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17720" y="288036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97280" y="315468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00200" y="315468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03120" y="315468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06040" y="315468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08960" y="315468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11880" y="315468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0" y="3154680"/>
            <a:ext cx="502920" cy="274320"/>
          </a:xfrm>
          <a:prstGeom prst="rect">
            <a:avLst/>
          </a:prstGeom>
          <a:solidFill>
            <a:srgbClr val="F8CBAD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17720" y="3154680"/>
            <a:ext cx="502920" cy="274320"/>
          </a:xfrm>
          <a:prstGeom prst="rect">
            <a:avLst/>
          </a:prstGeom>
          <a:solidFill>
            <a:srgbClr val="F4B183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7280" y="342900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00200" y="342900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03120" y="342900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06040" y="342900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08960" y="342900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11880" y="342900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0" y="342900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17720" y="342900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97280" y="370332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370332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03120" y="370332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606040" y="370332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108960" y="370332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11880" y="370332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0" y="370332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17720" y="370332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97280" y="3977639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00200" y="3977639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103120" y="3977639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606040" y="3977639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08960" y="3977639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11880" y="3977639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0" y="3977639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17720" y="3977639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7280" y="425196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600200" y="425196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03120" y="4251960"/>
            <a:ext cx="502920" cy="274320"/>
          </a:xfrm>
          <a:prstGeom prst="rect">
            <a:avLst/>
          </a:prstGeom>
          <a:solidFill>
            <a:srgbClr val="FCE4D6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06040" y="4251960"/>
            <a:ext cx="502920" cy="274320"/>
          </a:xfrm>
          <a:prstGeom prst="rect">
            <a:avLst/>
          </a:prstGeom>
          <a:solidFill>
            <a:srgbClr val="F09A5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108960" y="425196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11880" y="425196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14800" y="425196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17720" y="425196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97280" y="4526279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00200" y="4526279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103120" y="4526279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606040" y="4526279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108960" y="4526279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11880" y="4526279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14800" y="4526279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17720" y="4526279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97280" y="480060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600200" y="480060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103120" y="480060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606040" y="480060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108960" y="480060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11880" y="480060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114800" y="480060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617720" y="480060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97280" y="507492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600200" y="507492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103120" y="507492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606040" y="507492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08960" y="507492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611880" y="507492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114800" y="507492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17720" y="507492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97280" y="534924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600200" y="534924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103120" y="534924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606040" y="534924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108960" y="534924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611880" y="534924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114800" y="5349240"/>
            <a:ext cx="50292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617720" y="5349240"/>
            <a:ext cx="502920" cy="274320"/>
          </a:xfrm>
          <a:prstGeom prst="rect">
            <a:avLst/>
          </a:prstGeom>
          <a:solidFill>
            <a:srgbClr val="F09A5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0">
                <a:solidFill>
                  <a:srgbClr val="262626"/>
                </a:solidFill>
                <a:latin typeface="Consolas"/>
              </a:rPr>
              <a:t>c3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40080" y="121615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0080" y="149047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0080" y="176479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40080" y="203911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40080" y="231343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0080" y="258775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0080" y="286207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0080" y="313639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40080" y="341071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0080" y="368503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0080" y="395935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m10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40080" y="423367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40080" y="450799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m12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40080" y="478231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m13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40080" y="505663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m14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0080" y="533095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262626"/>
                </a:solidFill>
                <a:latin typeface="Consolas"/>
              </a:rPr>
              <a:t>m15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97280" y="5641848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n0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600200" y="5641848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n1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103120" y="5641848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n2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606040" y="5641848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n3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108960" y="5641848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n4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611880" y="5641848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n5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114800" y="5641848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n6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617720" y="5641848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n7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7280" y="5943600"/>
            <a:ext cx="420624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lane L：c0 = D[g][2t]，c1 = D[g][2t+1]，c2 = D[g+8][2t]，c3 = D[g+8][2t+1]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同一行的相邻两列在同一个 lane 手里，这就是 epilogue 里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“N-major 输出按 (n, n+1) 成对存”的来源。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669280" y="1234440"/>
            <a:ext cx="6126480" cy="192024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/>
            <a:r>
              <a:rPr sz="1000" b="1">
                <a:solidFill>
                  <a:srgbClr val="262626"/>
                </a:solidFill>
                <a:latin typeface="Consolas"/>
              </a:rPr>
              <a:t>acc 数组的布局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acc = cutlass.Array(Float32, _ACC_REGS)，_ACC_REGS = _M_FRAGS * _N_FRAGS * 4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每个 (mf, nf) 一段 4 个：_o = (mf*_N_FRAGS + nf) * 4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/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c0, c1, c2, c3 = acc[_o], acc[_o+1], acc[_o+2], acc[_o+3]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acc[_o:4] = _mma_16x8_bs(...)        # d0..d3 写回原位（Array 切片是 [start:COUNT]）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/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例子 128x128 warps4x2：warp tile 32x64 → _M_FRAGS=2，_N_FRAGS=8，_ACC_REGS=64（每 lane 64 个 fp32 寄存器）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(mf=1, nf=5) → _o = 52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5669280" y="3337560"/>
            <a:ext cx="6126480" cy="146304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/>
            <a:r>
              <a:rPr sz="1000" b="1">
                <a:solidFill>
                  <a:srgbClr val="262626"/>
                </a:solidFill>
                <a:latin typeface="Consolas"/>
              </a:rPr>
              <a:t>这条指令覆盖的输出格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warp 的输出 tile 是 _WARP_TILE_M x _WARP_TILE_N，切成 _M_FRAGS x _N_FRAGS 个 16x8 小块；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(mf, nf) 小块的 CTA 内坐标：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  行 warp_row*_WARP_TILE_M + mf*16 + {g, g+8}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  列 warp_col*_WARP_TILE_N + nf*8  + {2t, 2t+1}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epilogue 里 row_in_cta / col 的公式就是这两行。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669280" y="4983480"/>
            <a:ext cx="6126480" cy="1188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/>
            <a:r>
              <a:rPr sz="900">
                <a:solidFill>
                  <a:srgbClr val="262626"/>
                </a:solidFill>
                <a:latin typeface="Microsoft YaHei"/>
              </a:rPr>
              <a:t>返回值路径：nvvm.mma.block_scale 的结果类型是 !llvm.struct&lt;(f32,f32,f32,f32)&gt;；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_llvm.extractvalue(f32, res, [i]) 取第 i 个，包成 cutlass.Float32 再赋回 acc。</a:t>
            </a:r>
          </a:p>
          <a:p>
            <a:r>
              <a:rPr sz="900">
                <a:solidFill>
                  <a:srgbClr val="262626"/>
                </a:solidFill>
                <a:latin typeface="Microsoft YaHei"/>
              </a:rPr>
              <a:t>累加固定 fp32（模板 assert mma_c_dtype == Float32），tile 开头 acc[_z] = 0，K 循环内所有 k_blk 累加到同一段。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>
                <a:solidFill>
                  <a:srgbClr val="262626"/>
                </a:solidFill>
                <a:latin typeface="Microsoft YaHei"/>
              </a:rPr>
              <a:t>sfa / sfb：每个 lane 装哪一行（列）的 scale word，{byte_id, thread_id} 怎么选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Microsoft YaHei"/>
              </a:rPr>
              <a:t>硬件规则（SM 12.0 探测）：A 第 r 行读 lane 4*(r%8) + r//8 + 2*thread_id_a 的 byte_id_a；B 第 c 列读 lane 4*c + thread_id_b 的 byte_id_b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262626"/>
                </a:solidFill>
                <a:latin typeface="Microsoft YaHei"/>
              </a:rPr>
              <a:t>A 侧：32 个 lane（行 g = L&gt;&gt;2，列 t = L&amp;3）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L0: r0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1872" y="1188720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L1: r8</a:t>
            </a:r>
          </a:p>
        </p:txBody>
      </p:sp>
      <p:sp>
        <p:nvSpPr>
          <p:cNvPr id="7" name="Rectangle 6"/>
          <p:cNvSpPr/>
          <p:nvPr/>
        </p:nvSpPr>
        <p:spPr>
          <a:xfrm>
            <a:off x="1975104" y="1188720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L2: r0</a:t>
            </a:r>
          </a:p>
        </p:txBody>
      </p:sp>
      <p:sp>
        <p:nvSpPr>
          <p:cNvPr id="8" name="Rectangle 7"/>
          <p:cNvSpPr/>
          <p:nvPr/>
        </p:nvSpPr>
        <p:spPr>
          <a:xfrm>
            <a:off x="2688336" y="1188720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L3: r8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17904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L4: r1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1517904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L5: r9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75104" y="1517904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L6: r1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8336" y="1517904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L7: r9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47088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L8: r2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1847088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L9: r10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75104" y="1847088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L10: r2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88336" y="1847088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L11: r10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76272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L12: r3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1872" y="2176272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L13: r11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75104" y="2176272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L14: r3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88336" y="2176272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L15: r11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505456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L16: r4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61872" y="2505456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L17: r12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75104" y="2505456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L18: r4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88336" y="2505456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L19: r12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834639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L20: r5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61872" y="2834639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L21: r13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75104" y="2834639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L22: r5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88336" y="2834639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L23: r13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163824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L24: r6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61872" y="3163824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L25: r14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75104" y="3163824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L26: r6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88336" y="3163824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L27: r14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493008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L28: r7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61872" y="3493008"/>
            <a:ext cx="713232" cy="329184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L29: r15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75104" y="3493008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L30: r7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88336" y="3493008"/>
            <a:ext cx="713232" cy="329184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L31: r15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840479"/>
            <a:ext cx="71323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t=0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3840479"/>
            <a:ext cx="71323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t=1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75104" y="3840479"/>
            <a:ext cx="71323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t=2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88336" y="3840479"/>
            <a:ext cx="71323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t=3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096511"/>
            <a:ext cx="3108960" cy="1737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浅黄 (t=0,1) = thread_id_a 0 这一组，深黄 (t=2,3) = 组 1。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组内 lane L 供第 (L&gt;&gt;2) + 8*(L&amp;1) 行的 scale：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 t 偶 → 行 g，t 奇 → 行 g+8。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/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模板让两组装不同的 m-frag：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 sfa_lane_sel = (L//2)%2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 mf_sel = min(2*ga + sfa_lane_sel, _M_FRAGS-1)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 r = warp_row*_WARP_TILE_M + mf_sel*16 + (L&gt;&gt;2) + 8*(L&amp;1)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所以 (mf) 调用时 sfa = sfa_words[mf//2][w]，thread_id_a = mf%2。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896112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262626"/>
                </a:solidFill>
                <a:latin typeface="Microsoft YaHei"/>
              </a:rPr>
              <a:t>B 侧：同一批 lane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23360" y="1188720"/>
            <a:ext cx="713232" cy="329184"/>
          </a:xfrm>
          <a:prstGeom prst="rect">
            <a:avLst/>
          </a:prstGeom>
          <a:solidFill>
            <a:srgbClr val="E2C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L0: c0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36592" y="1188720"/>
            <a:ext cx="713232" cy="329184"/>
          </a:xfrm>
          <a:prstGeom prst="rect">
            <a:avLst/>
          </a:prstGeom>
          <a:solidFill>
            <a:srgbClr val="C9A6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L1: c0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49824" y="1188720"/>
            <a:ext cx="713232" cy="329184"/>
          </a:xfrm>
          <a:prstGeom prst="rect">
            <a:avLst/>
          </a:prstGeom>
          <a:solidFill>
            <a:srgbClr val="D9C2F2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L2: c0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63056" y="1188720"/>
            <a:ext cx="713232" cy="329184"/>
          </a:xfrm>
          <a:prstGeom prst="rect">
            <a:avLst/>
          </a:prstGeom>
          <a:solidFill>
            <a:srgbClr val="B894E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L3: c0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0" y="1517904"/>
            <a:ext cx="713232" cy="329184"/>
          </a:xfrm>
          <a:prstGeom prst="rect">
            <a:avLst/>
          </a:prstGeom>
          <a:solidFill>
            <a:srgbClr val="E2C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L4: c1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36592" y="1517904"/>
            <a:ext cx="713232" cy="329184"/>
          </a:xfrm>
          <a:prstGeom prst="rect">
            <a:avLst/>
          </a:prstGeom>
          <a:solidFill>
            <a:srgbClr val="C9A6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L5: c1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9824" y="1517904"/>
            <a:ext cx="713232" cy="329184"/>
          </a:xfrm>
          <a:prstGeom prst="rect">
            <a:avLst/>
          </a:prstGeom>
          <a:solidFill>
            <a:srgbClr val="D9C2F2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L6: c1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63056" y="1517904"/>
            <a:ext cx="713232" cy="329184"/>
          </a:xfrm>
          <a:prstGeom prst="rect">
            <a:avLst/>
          </a:prstGeom>
          <a:solidFill>
            <a:srgbClr val="B894E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L7: c1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0" y="1847088"/>
            <a:ext cx="713232" cy="329184"/>
          </a:xfrm>
          <a:prstGeom prst="rect">
            <a:avLst/>
          </a:prstGeom>
          <a:solidFill>
            <a:srgbClr val="E2C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L8: c2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36592" y="1847088"/>
            <a:ext cx="713232" cy="329184"/>
          </a:xfrm>
          <a:prstGeom prst="rect">
            <a:avLst/>
          </a:prstGeom>
          <a:solidFill>
            <a:srgbClr val="C9A6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L9: c2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9824" y="1847088"/>
            <a:ext cx="713232" cy="329184"/>
          </a:xfrm>
          <a:prstGeom prst="rect">
            <a:avLst/>
          </a:prstGeom>
          <a:solidFill>
            <a:srgbClr val="D9C2F2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L10: c2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63056" y="1847088"/>
            <a:ext cx="713232" cy="329184"/>
          </a:xfrm>
          <a:prstGeom prst="rect">
            <a:avLst/>
          </a:prstGeom>
          <a:solidFill>
            <a:srgbClr val="B894E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L11: c2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23360" y="2176272"/>
            <a:ext cx="713232" cy="329184"/>
          </a:xfrm>
          <a:prstGeom prst="rect">
            <a:avLst/>
          </a:prstGeom>
          <a:solidFill>
            <a:srgbClr val="E2C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L12: c3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36592" y="2176272"/>
            <a:ext cx="713232" cy="329184"/>
          </a:xfrm>
          <a:prstGeom prst="rect">
            <a:avLst/>
          </a:prstGeom>
          <a:solidFill>
            <a:srgbClr val="C9A6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L13: c3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49824" y="2176272"/>
            <a:ext cx="713232" cy="329184"/>
          </a:xfrm>
          <a:prstGeom prst="rect">
            <a:avLst/>
          </a:prstGeom>
          <a:solidFill>
            <a:srgbClr val="D9C2F2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L14: c3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63056" y="2176272"/>
            <a:ext cx="713232" cy="329184"/>
          </a:xfrm>
          <a:prstGeom prst="rect">
            <a:avLst/>
          </a:prstGeom>
          <a:solidFill>
            <a:srgbClr val="B894E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L15: c3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23360" y="2505456"/>
            <a:ext cx="713232" cy="329184"/>
          </a:xfrm>
          <a:prstGeom prst="rect">
            <a:avLst/>
          </a:prstGeom>
          <a:solidFill>
            <a:srgbClr val="E2C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L16: c4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36592" y="2505456"/>
            <a:ext cx="713232" cy="329184"/>
          </a:xfrm>
          <a:prstGeom prst="rect">
            <a:avLst/>
          </a:prstGeom>
          <a:solidFill>
            <a:srgbClr val="C9A6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L17: c4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49824" y="2505456"/>
            <a:ext cx="713232" cy="329184"/>
          </a:xfrm>
          <a:prstGeom prst="rect">
            <a:avLst/>
          </a:prstGeom>
          <a:solidFill>
            <a:srgbClr val="D9C2F2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L18: c4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63056" y="2505456"/>
            <a:ext cx="713232" cy="329184"/>
          </a:xfrm>
          <a:prstGeom prst="rect">
            <a:avLst/>
          </a:prstGeom>
          <a:solidFill>
            <a:srgbClr val="B894E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L19: c4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23360" y="2834639"/>
            <a:ext cx="713232" cy="329184"/>
          </a:xfrm>
          <a:prstGeom prst="rect">
            <a:avLst/>
          </a:prstGeom>
          <a:solidFill>
            <a:srgbClr val="E2C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L20: c5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36592" y="2834639"/>
            <a:ext cx="713232" cy="329184"/>
          </a:xfrm>
          <a:prstGeom prst="rect">
            <a:avLst/>
          </a:prstGeom>
          <a:solidFill>
            <a:srgbClr val="C9A6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L21: c5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49824" y="2834639"/>
            <a:ext cx="713232" cy="329184"/>
          </a:xfrm>
          <a:prstGeom prst="rect">
            <a:avLst/>
          </a:prstGeom>
          <a:solidFill>
            <a:srgbClr val="D9C2F2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L22: c5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63056" y="2834639"/>
            <a:ext cx="713232" cy="329184"/>
          </a:xfrm>
          <a:prstGeom prst="rect">
            <a:avLst/>
          </a:prstGeom>
          <a:solidFill>
            <a:srgbClr val="B894E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L23: c5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23360" y="3163824"/>
            <a:ext cx="713232" cy="329184"/>
          </a:xfrm>
          <a:prstGeom prst="rect">
            <a:avLst/>
          </a:prstGeom>
          <a:solidFill>
            <a:srgbClr val="E2C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L24: c6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36592" y="3163824"/>
            <a:ext cx="713232" cy="329184"/>
          </a:xfrm>
          <a:prstGeom prst="rect">
            <a:avLst/>
          </a:prstGeom>
          <a:solidFill>
            <a:srgbClr val="C9A6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L25: c6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9824" y="3163824"/>
            <a:ext cx="713232" cy="329184"/>
          </a:xfrm>
          <a:prstGeom prst="rect">
            <a:avLst/>
          </a:prstGeom>
          <a:solidFill>
            <a:srgbClr val="D9C2F2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L26: c6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63056" y="3163824"/>
            <a:ext cx="713232" cy="329184"/>
          </a:xfrm>
          <a:prstGeom prst="rect">
            <a:avLst/>
          </a:prstGeom>
          <a:solidFill>
            <a:srgbClr val="B894E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L27: c6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23360" y="3493008"/>
            <a:ext cx="713232" cy="329184"/>
          </a:xfrm>
          <a:prstGeom prst="rect">
            <a:avLst/>
          </a:prstGeom>
          <a:solidFill>
            <a:srgbClr val="E2C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L28: c7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36592" y="3493008"/>
            <a:ext cx="713232" cy="329184"/>
          </a:xfrm>
          <a:prstGeom prst="rect">
            <a:avLst/>
          </a:prstGeom>
          <a:solidFill>
            <a:srgbClr val="C9A6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L29: c7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49824" y="3493008"/>
            <a:ext cx="713232" cy="329184"/>
          </a:xfrm>
          <a:prstGeom prst="rect">
            <a:avLst/>
          </a:prstGeom>
          <a:solidFill>
            <a:srgbClr val="D9C2F2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L30: c7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63056" y="3493008"/>
            <a:ext cx="713232" cy="329184"/>
          </a:xfrm>
          <a:prstGeom prst="rect">
            <a:avLst/>
          </a:prstGeom>
          <a:solidFill>
            <a:srgbClr val="B894E8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L31: c7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23360" y="3840479"/>
            <a:ext cx="71323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t=0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36592" y="3840479"/>
            <a:ext cx="71323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t=1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49824" y="3840479"/>
            <a:ext cx="71323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t=2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63056" y="3840479"/>
            <a:ext cx="71323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t=3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23360" y="4096511"/>
            <a:ext cx="3108960" cy="1737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四种紫 = thread_id_b 0..3 四组，组 t 的 lane L 供第 g = L&gt;&gt;2 列。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/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模板让四组装不同的 n-frag：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 sfb_lane_sel = L%4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 nf_sel = min(4*gb + sfb_lane_sel, _N_FRAGS-1)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 c = warp_col*_WARP_TILE_N + nf_sel*8 + (L&gt;&gt;2)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所以 (nf) 调用时 sfb = sfb_words[nf//4][w]，thread_id_b = nf%4。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一次 LDS.32 服务 2 个 m-frag / 4 个 n-frag。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52360" y="896112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262626"/>
                </a:solidFill>
                <a:latin typeface="Microsoft YaHei"/>
              </a:rPr>
              <a:t>一个 SF word（4 字节）和 byte_id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52360" y="1188720"/>
            <a:ext cx="1005840" cy="411480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byte 0</a:t>
            </a:r>
          </a:p>
          <a:p>
            <a:pPr algn="ctr"/>
            <a:r>
              <a:rPr sz="700">
                <a:solidFill>
                  <a:srgbClr val="262626"/>
                </a:solidFill>
                <a:latin typeface="Consolas"/>
              </a:rPr>
              <a:t>K-scale 4w+0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58200" y="1188720"/>
            <a:ext cx="1005840" cy="411480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byte 1</a:t>
            </a:r>
          </a:p>
          <a:p>
            <a:pPr algn="ctr"/>
            <a:r>
              <a:rPr sz="700">
                <a:solidFill>
                  <a:srgbClr val="262626"/>
                </a:solidFill>
                <a:latin typeface="Consolas"/>
              </a:rPr>
              <a:t>K-scale 4w+1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464040" y="1188720"/>
            <a:ext cx="1005840" cy="411480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byte 2</a:t>
            </a:r>
          </a:p>
          <a:p>
            <a:pPr algn="ctr"/>
            <a:r>
              <a:rPr sz="700">
                <a:solidFill>
                  <a:srgbClr val="262626"/>
                </a:solidFill>
                <a:latin typeface="Consolas"/>
              </a:rPr>
              <a:t>K-scale 4w+2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469880" y="1188720"/>
            <a:ext cx="1005840" cy="411480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byte 3</a:t>
            </a:r>
          </a:p>
          <a:p>
            <a:pPr algn="ctr"/>
            <a:r>
              <a:rPr sz="700">
                <a:solidFill>
                  <a:srgbClr val="262626"/>
                </a:solidFill>
                <a:latin typeface="Consolas"/>
              </a:rPr>
              <a:t>K-scale 4w+3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52360" y="1645920"/>
            <a:ext cx="4297680" cy="1371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word w 存该行第 4w..4w+3 个 K-scale（block_size 个元素一个）。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SMEM 里 word 的位置（Int32 下标）：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 (r_in_block//128)*_SF_BLOCK_WORDS + (r%32)*4 + (r//32)%4 + w*128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即 F8_128x4 atom：行 r 在 (r%32)*16 + (r//32)*4 字节，K-word 之间隔 512 B。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每个 K-tile 有 _SF_WORDS = sf_k4 个 word；每个 lane 在 K-tile 开头把自己那行的全部 word load 进寄存器。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52360" y="3108960"/>
            <a:ext cx="777240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262626"/>
                </a:solidFill>
                <a:latin typeface="Microsoft YaHei"/>
              </a:rPr>
              <a:t>scale_vec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29600" y="3108960"/>
            <a:ext cx="365760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262626"/>
                </a:solidFill>
                <a:latin typeface="Microsoft YaHei"/>
              </a:rPr>
              <a:t>spi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95360" y="3108960"/>
            <a:ext cx="566928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262626"/>
                </a:solidFill>
                <a:latin typeface="Microsoft YaHei"/>
              </a:rPr>
              <a:t>k_blk 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62288" y="3108960"/>
            <a:ext cx="566928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262626"/>
                </a:solidFill>
                <a:latin typeface="Microsoft YaHei"/>
              </a:rPr>
              <a:t>k_blk 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29215" y="3108960"/>
            <a:ext cx="566928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262626"/>
                </a:solidFill>
                <a:latin typeface="Microsoft YaHei"/>
              </a:rPr>
              <a:t>k_blk 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296143" y="3108960"/>
            <a:ext cx="566928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262626"/>
                </a:solidFill>
                <a:latin typeface="Microsoft YaHei"/>
              </a:rPr>
              <a:t>k_blk 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863071" y="3108960"/>
            <a:ext cx="1143000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262626"/>
                </a:solidFill>
                <a:latin typeface="Microsoft YaHei"/>
              </a:rPr>
              <a:t>指令读的字节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452360" y="3401568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4X (nvfp4)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29600" y="3401568"/>
            <a:ext cx="365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595360" y="3401568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w=0,b=0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162288" y="3401568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w=1,b=0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729215" y="3401568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w=2,b=0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296143" y="3401568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w=3,b=0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863071" y="3401568"/>
            <a:ext cx="1143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byte 0..3 整个 word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452360" y="3694176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2X (mxfp4)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29600" y="3694176"/>
            <a:ext cx="365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95360" y="3694176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w=0,b=0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62288" y="3694176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w=0,b=2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729215" y="3694176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w=1,b=0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296143" y="3694176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w=1,b=2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863071" y="3694176"/>
            <a:ext cx="1143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byte b, b+1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52360" y="3986784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1X (mxfp8)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29600" y="3986784"/>
            <a:ext cx="365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595360" y="3986784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w=0,b=0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162288" y="3986784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w=0,b=1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729215" y="3986784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w=0,b=2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296143" y="3986784"/>
            <a:ext cx="5669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w=0,b=3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863071" y="3986784"/>
            <a:ext cx="1143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byte b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52360" y="4325112"/>
            <a:ext cx="429768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通式：w = (k_blk*spi)//4，byte_id = (k_blk*spi)%4（_SF_WORD_BY_KBLK / _SF_BYTE_BY_KBLK）。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byte_id 和 thread_id 都是 PTX 立即数，所以只能来自 range_constexpr 的循环变量，用 _arith.constant(i16, ·) 变成常量。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48640" y="5806440"/>
            <a:ext cx="11247120" cy="868680"/>
          </a:xfrm>
          <a:prstGeom prst="rect">
            <a:avLst/>
          </a:prstGeom>
          <a:solidFill>
            <a:srgbClr val="FFF2CC"/>
          </a:solidFill>
          <a:ln w="9525">
            <a:solidFill>
              <a:srgbClr val="BF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/>
            <a:r>
              <a:rPr sz="800">
                <a:solidFill>
                  <a:srgbClr val="262626"/>
                </a:solidFill>
                <a:latin typeface="Microsoft YaHei"/>
              </a:rPr>
              <a:t>为什么 lane 多于需要：A 只需 16 个 lane 供 16 行、B 只需 8 个 lane 供 8 列，硬件把多余的 lane 编成“备份组”，由 thread_id 选组。模板不是让备份组重复装同一份数据，而是装相邻的 frag，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所以 sfa_words 的第一维是 m-frag 对（_SFA_GROUPS = ceil(_M_FRAGS/2)），sfb_words 的第一维是 n-frag 四元组（_SFB_GROUPS = ceil(_N_FRAGS/4)）。frag 数不整除时用 min(·) 让多出的组重复装最后一个 frag，无害。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>
                <a:solidFill>
                  <a:srgbClr val="262626"/>
                </a:solidFill>
                <a:latin typeface="Microsoft YaHei"/>
              </a:rPr>
              <a:t>指令内部：a/b 的元素怎么和 sfa / sfb 相乘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Microsoft YaHei"/>
              </a:rPr>
              <a:t>D[r][c] = C[r][c] + Σ_j  sA[r][j] · sB[c][j] · Σ_{k ∈ 子块 j} A[r][k]·B[c][k]      scale 按 K 子块常量，子块 = block_size 个元素；例子仍是 nvfp4（4X，K=64，4 个子块 x 16）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943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262626"/>
                </a:solidFill>
                <a:latin typeface="Microsoft YaHei"/>
              </a:rPr>
              <a:t>A 第 r 行的 64 个 K 元素 = 32 字节，来自 4 个 lane（g = r）的 a0 + a2；r ≥ 8 时是 a1 + a3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371600" cy="292608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sA[r][0] = word(r).byte0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4"/>
            <a:ext cx="1371600" cy="384048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A[r][0..15]</a:t>
            </a:r>
          </a:p>
          <a:p>
            <a:pPr algn="ctr"/>
            <a:r>
              <a:rPr sz="700">
                <a:solidFill>
                  <a:srgbClr val="262626"/>
                </a:solidFill>
                <a:latin typeface="Consolas"/>
              </a:rPr>
              <a:t>字节 0..7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43000" y="1618488"/>
            <a:ext cx="0" cy="36576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828800" y="1325880"/>
            <a:ext cx="1371600" cy="292608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sA[r][1] = word(r).byte1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655064"/>
            <a:ext cx="1371600" cy="384048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A[r][16..31]</a:t>
            </a:r>
          </a:p>
          <a:p>
            <a:pPr algn="ctr"/>
            <a:r>
              <a:rPr sz="700">
                <a:solidFill>
                  <a:srgbClr val="262626"/>
                </a:solidFill>
                <a:latin typeface="Consolas"/>
              </a:rPr>
              <a:t>字节 8..15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1618488"/>
            <a:ext cx="0" cy="36576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00400" y="1325880"/>
            <a:ext cx="1371600" cy="292608"/>
          </a:xfrm>
          <a:prstGeom prst="rect">
            <a:avLst/>
          </a:prstGeom>
          <a:solidFill>
            <a:srgbClr val="FFE69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sA[r][2] = word(r).byte2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655064"/>
            <a:ext cx="1371600" cy="384048"/>
          </a:xfrm>
          <a:prstGeom prst="rect">
            <a:avLst/>
          </a:prstGeom>
          <a:solidFill>
            <a:srgbClr val="BDD7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A[r][32..47]</a:t>
            </a:r>
          </a:p>
          <a:p>
            <a:pPr algn="ctr"/>
            <a:r>
              <a:rPr sz="700">
                <a:solidFill>
                  <a:srgbClr val="262626"/>
                </a:solidFill>
                <a:latin typeface="Consolas"/>
              </a:rPr>
              <a:t>字节 16..23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6200" y="1618488"/>
            <a:ext cx="0" cy="36576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72000" y="1325880"/>
            <a:ext cx="1371600" cy="292608"/>
          </a:xfrm>
          <a:prstGeom prst="rect">
            <a:avLst/>
          </a:prstGeom>
          <a:solidFill>
            <a:srgbClr val="FFD96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sA[r][3] = word(r).byte3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655064"/>
            <a:ext cx="1371600" cy="384048"/>
          </a:xfrm>
          <a:prstGeom prst="rect">
            <a:avLst/>
          </a:prstGeom>
          <a:solidFill>
            <a:srgbClr val="9DC3E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A[r][48..63]</a:t>
            </a:r>
          </a:p>
          <a:p>
            <a:pPr algn="ctr"/>
            <a:r>
              <a:rPr sz="700">
                <a:solidFill>
                  <a:srgbClr val="262626"/>
                </a:solidFill>
                <a:latin typeface="Consolas"/>
              </a:rPr>
              <a:t>字节 24..31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57800" y="1618488"/>
            <a:ext cx="0" cy="36576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2075688"/>
            <a:ext cx="59436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字节 0..15 = 4 个 lane 的 a0（t = 0..3 各 4 字节），字节 16..31 = 同 4 个 lane 的 a2。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子块 j 的 16 个元素统一乘 sA[r][j]；4X 时 4 个子块正好是一个 word 的 4 个字节，byte_id 必为 0。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06040"/>
            <a:ext cx="5943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262626"/>
                </a:solidFill>
                <a:latin typeface="Microsoft YaHei"/>
              </a:rPr>
              <a:t>B 第 c 列的 64 个 K 元素 = 32 字节，来自 4 个 lane（g = c）的 b0 + b1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80360"/>
            <a:ext cx="1371600" cy="292608"/>
          </a:xfrm>
          <a:prstGeom prst="rect">
            <a:avLst/>
          </a:prstGeom>
          <a:solidFill>
            <a:srgbClr val="E2C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sB[c][0] = word(c).byte0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09544"/>
            <a:ext cx="1371600" cy="384048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B[c][0..15]</a:t>
            </a:r>
          </a:p>
          <a:p>
            <a:pPr algn="ctr"/>
            <a:r>
              <a:rPr sz="700">
                <a:solidFill>
                  <a:srgbClr val="262626"/>
                </a:solidFill>
                <a:latin typeface="Consolas"/>
              </a:rPr>
              <a:t>字节 0..7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43000" y="3172968"/>
            <a:ext cx="0" cy="36576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828800" y="2880360"/>
            <a:ext cx="1371600" cy="292608"/>
          </a:xfrm>
          <a:prstGeom prst="rect">
            <a:avLst/>
          </a:prstGeom>
          <a:solidFill>
            <a:srgbClr val="C9A6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sB[c][1] = word(c).byte1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3209544"/>
            <a:ext cx="1371600" cy="384048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B[c][16..31]</a:t>
            </a:r>
          </a:p>
          <a:p>
            <a:pPr algn="ctr"/>
            <a:r>
              <a:rPr sz="700">
                <a:solidFill>
                  <a:srgbClr val="262626"/>
                </a:solidFill>
                <a:latin typeface="Consolas"/>
              </a:rPr>
              <a:t>字节 8..15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14600" y="3172968"/>
            <a:ext cx="0" cy="36576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200400" y="2880360"/>
            <a:ext cx="1371600" cy="292608"/>
          </a:xfrm>
          <a:prstGeom prst="rect">
            <a:avLst/>
          </a:prstGeom>
          <a:solidFill>
            <a:srgbClr val="E2CBF7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sB[c][2] = word(c).byte2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209544"/>
            <a:ext cx="1371600" cy="384048"/>
          </a:xfrm>
          <a:prstGeom prst="rect">
            <a:avLst/>
          </a:prstGeom>
          <a:solidFill>
            <a:srgbClr val="C6E0B4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B[c][32..47]</a:t>
            </a:r>
          </a:p>
          <a:p>
            <a:pPr algn="ctr"/>
            <a:r>
              <a:rPr sz="700">
                <a:solidFill>
                  <a:srgbClr val="262626"/>
                </a:solidFill>
                <a:latin typeface="Consolas"/>
              </a:rPr>
              <a:t>字节 16..23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86200" y="3172968"/>
            <a:ext cx="0" cy="36576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572000" y="2880360"/>
            <a:ext cx="1371600" cy="292608"/>
          </a:xfrm>
          <a:prstGeom prst="rect">
            <a:avLst/>
          </a:prstGeom>
          <a:solidFill>
            <a:srgbClr val="C9A6E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sB[c][3] = word(c).byte3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209544"/>
            <a:ext cx="1371600" cy="384048"/>
          </a:xfrm>
          <a:prstGeom prst="rect">
            <a:avLst/>
          </a:prstGeom>
          <a:solidFill>
            <a:srgbClr val="A9D18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0">
                <a:solidFill>
                  <a:srgbClr val="262626"/>
                </a:solidFill>
                <a:latin typeface="Consolas"/>
              </a:rPr>
              <a:t>B[c][48..63]</a:t>
            </a:r>
          </a:p>
          <a:p>
            <a:pPr algn="ctr"/>
            <a:r>
              <a:rPr sz="700">
                <a:solidFill>
                  <a:srgbClr val="262626"/>
                </a:solidFill>
                <a:latin typeface="Consolas"/>
              </a:rPr>
              <a:t>字节 24..31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257800" y="3172968"/>
            <a:ext cx="0" cy="36576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57200" y="3749039"/>
            <a:ext cx="5486400" cy="960120"/>
          </a:xfrm>
          <a:prstGeom prst="rect">
            <a:avLst/>
          </a:prstGeom>
          <a:solidFill>
            <a:srgbClr val="FCE4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785615"/>
            <a:ext cx="539496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硬件对每个输出格做的事（PTX 定义 D = matmul(A·SF_A, B·SF_B) + C）：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 D[r][c] = C[r][c]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         + sA[r][0]·sB[c][0]·(A[r][0..15]·B[c][0..15])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         + sA[r][1]·sB[c][1]·(A[r][16..31]·B[c][16..31])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         + sA[r][2]·sB[c][2]·(A[r][32..47]·B[c][32..47])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          + sA[r][3]·sB[c][3]·(A[r][48..63]·B[c][48..63])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</a:rPr>
              <a:t>scale 先解码成 fp32（ue4m3: 2^(e-7)·(1+m/8)，ue8m0: 2^(e-127)），乘积和累加都在 fp32。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105156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/>
            <a:r>
              <a:rPr sz="1000" b="1">
                <a:solidFill>
                  <a:srgbClr val="262626"/>
                </a:solidFill>
                <a:latin typeface="Consolas"/>
              </a:rPr>
              <a:t>word(r) / word(c) 从哪个 lane 的 sfa / sfb 寄存器来（不是本 lane 的！）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sfa、sfb 每个 lane 一个 32-bit 寄存器，指令按固定路由取字节：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  word(r) = lane [ 4*(r%8) + r//8 + 2*thread_id_a ] 的 sfa</a:t>
            </a:r>
          </a:p>
          <a:p>
            <a:r>
              <a:rPr sz="800">
                <a:solidFill>
                  <a:srgbClr val="262626"/>
                </a:solidFill>
                <a:latin typeface="Consolas"/>
              </a:rPr>
              <a:t>  word(c) = lane [ 4*c + thread_id_b ] 的 sfb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从 word 里取哪几个字节：4X 全部 4 个；2X 取 byte_id, byte_id+1；1X 只取 byte_id。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/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所以 lane 13 (g=3, t=1) 自己算的是 D[3][2], D[3][3], D[11][2], D[11][3]，但它的 a0/a2 (行 3) 用的 scale 来自 lane 12 (thread_id_a=0) 或 lane 14 (=1)，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它的 a1/a3 (行 11) 用的 scale 来自 lane 13 或 15；列 2 的 scale 来自 lane 8+thread_id_b，列 3 来自 lane 12+thread_id_b。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而 lane 13 自己的 sfa 寄存器里装的是行 (13&gt;&gt;2)+8*(13&amp;1) = 11 的 word，只在 thread_id_a = 0 时被读到。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33756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/>
            <a:r>
              <a:rPr sz="1000" b="1">
                <a:solidFill>
                  <a:srgbClr val="262626"/>
                </a:solidFill>
                <a:latin typeface="Consolas"/>
              </a:rPr>
              <a:t>byte_id 为什么存在：一个 word 服务多条指令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word 里是同一行沿 K 连续的 4 个 scale。一条指令只消费 spi 个（4X: 4，2X: 2，1X: 1），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所以一个 word 能喂 4/spi 条连续的 k_blk 指令，byte_id 指出从哪个字节开始：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  1X (mxfp8, K=32 元素 = 1 个子块)：k_blk 0..3 → 同一个 word 的 byte 0,1,2,3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  2X (mxfp4, K=64 = 2 个子块)：k_blk 0 → byte 0,1；k_blk 1 → byte 2,3；k_blk 2 → 下一个 word 的 0,1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  4X (nvfp4, K=64 = 4 个子块)：每条指令一个 word，byte_id 恒为 0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这就是模板里 w = (k_blk*spi)//4、byte_id = (k_blk*spi)%4 的来源。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0292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/>
            <a:r>
              <a:rPr sz="1000" b="1">
                <a:solidFill>
                  <a:srgbClr val="262626"/>
                </a:solidFill>
                <a:latin typeface="Consolas"/>
              </a:rPr>
              <a:t>thread_id 为什么存在：多余的 lane 装别的 frag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16 行只需 16 个 lane 供 word，32 个 lane 里另一半是备份组；8 列只需 8 个 lane，其余 3/4 是备份组。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thread_id 选组。模板不让备份组装重复数据，而是装相邻的 m-frag / n-frag：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  A：组 0 装 m-frag 2g，组 1 装 2g+1  → 调 (mf) 时 thread_id_a = mf % 2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  B：组 t 装 n-frag 4g+t           → 调 (nf) 时 thread_id_b = nf % 4</a:t>
            </a:r>
          </a:p>
          <a:p>
            <a:r>
              <a:rPr sz="800">
                <a:solidFill>
                  <a:srgbClr val="262626"/>
                </a:solidFill>
                <a:latin typeface="Microsoft YaHei"/>
              </a:rPr>
              <a:t>于是同一个 sfa/sfb 寄存器在相邻几条指令里被反复使用，SF 的 SMEM load 减到 1/2 和 1/4。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